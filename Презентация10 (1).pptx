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  <p:sldMasterId id="2147483703" r:id="rId2"/>
    <p:sldMasterId id="2147483683" r:id="rId3"/>
    <p:sldMasterId id="2147483693" r:id="rId4"/>
    <p:sldMasterId id="2147483713" r:id="rId5"/>
    <p:sldMasterId id="2147483661" r:id="rId6"/>
  </p:sldMasterIdLst>
  <p:sldIdLst>
    <p:sldId id="261" r:id="rId7"/>
    <p:sldId id="269" r:id="rId8"/>
    <p:sldId id="273" r:id="rId9"/>
    <p:sldId id="274" r:id="rId10"/>
    <p:sldId id="270" r:id="rId11"/>
    <p:sldId id="272" r:id="rId12"/>
    <p:sldId id="279" r:id="rId13"/>
    <p:sldId id="280" r:id="rId14"/>
    <p:sldId id="281" r:id="rId15"/>
    <p:sldId id="276" r:id="rId16"/>
    <p:sldId id="275" r:id="rId17"/>
    <p:sldId id="277" r:id="rId18"/>
    <p:sldId id="278" r:id="rId19"/>
    <p:sldId id="260" r:id="rId20"/>
  </p:sldIdLst>
  <p:sldSz cx="12192000" cy="6858000"/>
  <p:notesSz cx="6858000" cy="9144000"/>
  <p:embeddedFontLst>
    <p:embeddedFont>
      <p:font typeface="Montserrat" panose="020B0604020202020204" charset="-52"/>
      <p:regular r:id="rId21"/>
      <p:bold r:id="rId22"/>
      <p:italic r:id="rId23"/>
      <p:boldItalic r:id="rId2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A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font" Target="fonts/font4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85E8220-DF47-4A5D-9D2C-226F8E9E9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2EB4659-56F5-4EA6-9C66-512C729771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65977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715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43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20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56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39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98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113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938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85E8220-DF47-4A5D-9D2C-226F8E9E9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2EB4659-56F5-4EA6-9C66-512C729771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76470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221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049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21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68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2850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150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643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918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8D8E887-6788-4EF2-8725-E4E97197F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2F3206E9-58DF-4D91-B0A9-8204642B0A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10670076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994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217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813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9636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02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8097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7404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3745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2CEF30B-FF05-407E-AC4B-2553FA8FD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89C63741-6A59-4713-9EC7-815CE5F0AF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32889451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2024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1675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90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638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1833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9087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577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3668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2CEF30B-FF05-407E-AC4B-2553FA8FD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89C63741-6A59-4713-9EC7-815CE5F0AF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25585449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9514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8513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74174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0825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2614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5377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2290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4702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ние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9407E-41C3-40ED-85C3-4F4AC310C9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3D66044-C392-47A5-889F-A4F90FD21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pPr/>
              <a:t>30.12.2025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DF13AC-6E1E-4952-A845-6B362839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48ACDA3-E292-470D-9120-E50EBB6B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9BC5BAF7-EFF7-4D86-8301-BE8F3D3FEB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39932064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43B20-A1B6-44D1-BB04-ED9151FA2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DBDE35-63AF-45E9-A900-BE347A762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10868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0010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8964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2851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2967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2499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46754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13143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01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32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41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2DB472F0-34D4-4635-92C6-3A38628EF8C8}" type="datetimeFigureOut">
              <a:rPr lang="ru-RU" smtClean="0"/>
              <a:pPr/>
              <a:t>30.12.2025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48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2DB472F0-34D4-4635-92C6-3A38628EF8C8}" type="datetimeFigureOut">
              <a:rPr lang="ru-RU" smtClean="0"/>
              <a:pPr/>
              <a:t>30.12.2025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75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2DB472F0-34D4-4635-92C6-3A38628EF8C8}" type="datetimeFigureOut">
              <a:rPr lang="ru-RU" smtClean="0"/>
              <a:pPr/>
              <a:t>30.12.2025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5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2DB472F0-34D4-4635-92C6-3A38628EF8C8}" type="datetimeFigureOut">
              <a:rPr lang="ru-RU" smtClean="0"/>
              <a:pPr/>
              <a:t>30.12.2025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F790FE3E-6460-4EC4-8C5D-83C27D7766B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9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2DB472F0-34D4-4635-92C6-3A38628EF8C8}" type="datetimeFigureOut">
              <a:rPr lang="ru-RU" smtClean="0"/>
              <a:pPr/>
              <a:t>30.12.2025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F790FE3E-6460-4EC4-8C5D-83C27D7766B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4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FE79D92-88A3-4669-9E63-839B8296D48F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4" y="67758"/>
            <a:ext cx="2749647" cy="91654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2DB472F0-34D4-4635-92C6-3A38628EF8C8}" type="datetimeFigureOut">
              <a:rPr lang="ru-RU" smtClean="0"/>
              <a:pPr/>
              <a:t>30.12.2025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347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EE105180-9459-4618-A9B5-823661CBC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0"/>
            <a:ext cx="9637986" cy="5948855"/>
          </a:xfrm>
        </p:spPr>
        <p:txBody>
          <a:bodyPr>
            <a:noAutofit/>
          </a:bodyPr>
          <a:lstStyle/>
          <a:p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Федеральное государственное бюджетное образовательное учреждение высшего образования</a:t>
            </a:r>
            <a:b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"Московский государственный университет геодезии и картографии" (</a:t>
            </a:r>
            <a:r>
              <a:rPr lang="ru-RU" sz="2400" b="0" i="0" dirty="0" err="1">
                <a:solidFill>
                  <a:schemeClr val="tx1"/>
                </a:solidFill>
                <a:effectLst/>
                <a:latin typeface="+mn-lt"/>
              </a:rPr>
              <a:t>МИИГАиК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b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Кафедра информатики и геоинформационных технологий</a:t>
            </a:r>
            <a:b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/>
            </a:r>
            <a:b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ru-RU" sz="2400" b="0" dirty="0" smtClean="0">
                <a:solidFill>
                  <a:schemeClr val="tx1"/>
                </a:solidFill>
              </a:rPr>
              <a:t>Разработка </a:t>
            </a:r>
            <a:r>
              <a:rPr lang="ru-RU" sz="2400" b="0" dirty="0">
                <a:solidFill>
                  <a:schemeClr val="tx1"/>
                </a:solidFill>
              </a:rPr>
              <a:t>системы автоматической генерации описаний и структуры для открытых наборов данных с использованием </a:t>
            </a:r>
            <a:r>
              <a:rPr lang="ru-RU" sz="2400" b="0" dirty="0" err="1">
                <a:solidFill>
                  <a:schemeClr val="tx1"/>
                </a:solidFill>
              </a:rPr>
              <a:t>нейросетей</a:t>
            </a:r>
            <a:r>
              <a:rPr lang="ru-RU" sz="2400" b="0" i="0" dirty="0" smtClean="0">
                <a:solidFill>
                  <a:schemeClr val="tx1"/>
                </a:solidFill>
                <a:effectLst/>
                <a:latin typeface="+mn-lt"/>
              </a:rPr>
              <a:t/>
            </a:r>
            <a:br>
              <a:rPr lang="ru-RU" sz="2400" b="0" i="0" dirty="0" smtClean="0">
                <a:solidFill>
                  <a:schemeClr val="tx1"/>
                </a:solidFill>
                <a:effectLst/>
                <a:latin typeface="+mn-lt"/>
              </a:rPr>
            </a:b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/>
            </a:r>
            <a:b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/>
            </a:r>
            <a:b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/>
            </a:r>
            <a:b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</a:br>
            <a:endParaRPr lang="ru-RU" sz="2400" b="0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5" name="Подзаголовок 14">
            <a:extLst>
              <a:ext uri="{FF2B5EF4-FFF2-40B4-BE49-F238E27FC236}">
                <a16:creationId xmlns:a16="http://schemas.microsoft.com/office/drawing/2014/main" id="{7C975E68-0A5B-4C40-8370-5A2ABEF71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0095" y="4193627"/>
            <a:ext cx="3552305" cy="2396359"/>
          </a:xfrm>
        </p:spPr>
        <p:txBody>
          <a:bodyPr>
            <a:normAutofit/>
          </a:bodyPr>
          <a:lstStyle/>
          <a:p>
            <a:pPr algn="r"/>
            <a:r>
              <a:rPr lang="ru-RU" sz="2000" b="0" i="0" dirty="0">
                <a:solidFill>
                  <a:schemeClr val="tx1"/>
                </a:solidFill>
                <a:effectLst/>
              </a:rPr>
              <a:t>Выполнил:</a:t>
            </a:r>
            <a:br>
              <a:rPr lang="ru-RU" sz="2000" b="0" i="0" dirty="0">
                <a:solidFill>
                  <a:schemeClr val="tx1"/>
                </a:solidFill>
                <a:effectLst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</a:rPr>
              <a:t>студент группы 2022-ФГиИБ-ПИ-1б</a:t>
            </a:r>
            <a:br>
              <a:rPr lang="ru-RU" sz="2000" b="0" i="0" dirty="0">
                <a:solidFill>
                  <a:schemeClr val="tx1"/>
                </a:solidFill>
                <a:effectLst/>
              </a:rPr>
            </a:br>
            <a:r>
              <a:rPr lang="ru-RU" sz="2000" b="0" i="0" dirty="0" err="1" smtClean="0">
                <a:solidFill>
                  <a:schemeClr val="tx1"/>
                </a:solidFill>
                <a:effectLst/>
              </a:rPr>
              <a:t>Хоронеко</a:t>
            </a:r>
            <a:r>
              <a:rPr lang="ru-RU" sz="2000" b="0" i="0" dirty="0" smtClean="0">
                <a:solidFill>
                  <a:schemeClr val="tx1"/>
                </a:solidFill>
                <a:effectLst/>
              </a:rPr>
              <a:t> Леонид Александрович</a:t>
            </a:r>
            <a:r>
              <a:rPr lang="ru-RU" sz="2000" b="0" i="0" dirty="0">
                <a:solidFill>
                  <a:schemeClr val="tx1"/>
                </a:solidFill>
                <a:effectLst/>
              </a:rPr>
              <a:t/>
            </a:r>
            <a:br>
              <a:rPr lang="ru-RU" sz="2000" b="0" i="0" dirty="0">
                <a:solidFill>
                  <a:schemeClr val="tx1"/>
                </a:solidFill>
                <a:effectLst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</a:rPr>
              <a:t>Научный руководитель:</a:t>
            </a:r>
            <a:br>
              <a:rPr lang="ru-RU" sz="2000" b="0" i="0" dirty="0">
                <a:solidFill>
                  <a:schemeClr val="tx1"/>
                </a:solidFill>
                <a:effectLst/>
              </a:rPr>
            </a:br>
            <a:r>
              <a:rPr lang="ru-RU" sz="2000" b="0" i="0" dirty="0" err="1" smtClean="0">
                <a:solidFill>
                  <a:schemeClr val="tx1"/>
                </a:solidFill>
                <a:effectLst/>
              </a:rPr>
              <a:t>Кондрашин</a:t>
            </a:r>
            <a:r>
              <a:rPr lang="ru-RU" sz="2000" b="0" i="0" dirty="0" smtClean="0">
                <a:solidFill>
                  <a:schemeClr val="tx1"/>
                </a:solidFill>
                <a:effectLst/>
              </a:rPr>
              <a:t> </a:t>
            </a:r>
            <a:r>
              <a:rPr lang="ru-RU" sz="2000" dirty="0"/>
              <a:t>Д</a:t>
            </a:r>
            <a:r>
              <a:rPr lang="ru-RU" sz="2000" b="0" i="0" dirty="0" smtClean="0">
                <a:solidFill>
                  <a:schemeClr val="tx1"/>
                </a:solidFill>
                <a:effectLst/>
              </a:rPr>
              <a:t>. </a:t>
            </a:r>
            <a:r>
              <a:rPr lang="ru-RU" sz="2000" dirty="0" smtClean="0"/>
              <a:t>М.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270734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43A486E-19D8-478B-82FB-76FB43E45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524" y="1082566"/>
            <a:ext cx="10313276" cy="546537"/>
          </a:xfrm>
        </p:spPr>
        <p:txBody>
          <a:bodyPr>
            <a:noAutofit/>
          </a:bodyPr>
          <a:lstStyle/>
          <a:p>
            <a:r>
              <a:rPr lang="ru-RU" sz="3600" dirty="0"/>
              <a:t>Актуальность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655D59-7BFE-4675-BB9E-40408A833C7A}"/>
              </a:ext>
            </a:extLst>
          </p:cNvPr>
          <p:cNvSpPr txBox="1"/>
          <p:nvPr/>
        </p:nvSpPr>
        <p:spPr>
          <a:xfrm>
            <a:off x="525517" y="2110996"/>
            <a:ext cx="1100433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Современные научные </a:t>
            </a:r>
            <a:r>
              <a:rPr lang="ru-RU" dirty="0" err="1"/>
              <a:t>репозитории</a:t>
            </a:r>
            <a:r>
              <a:rPr lang="ru-RU" dirty="0"/>
              <a:t> и платформы обмена данными сталкиваются с острой проблемой масштабируемости метаданных. На текущий момент большинство платформ, включая </a:t>
            </a:r>
            <a:r>
              <a:rPr lang="ru-RU" dirty="0" err="1"/>
              <a:t>Kaggle</a:t>
            </a:r>
            <a:r>
              <a:rPr lang="ru-RU" dirty="0"/>
              <a:t> и </a:t>
            </a:r>
            <a:r>
              <a:rPr lang="ru-RU" dirty="0" err="1"/>
              <a:t>Zenodo</a:t>
            </a:r>
            <a:r>
              <a:rPr lang="ru-RU" dirty="0"/>
              <a:t>, не обеспечивают автоматической генерации описаний и ключевых тегов для загружаемых </a:t>
            </a:r>
            <a:r>
              <a:rPr lang="ru-RU" dirty="0" err="1"/>
              <a:t>датасетов</a:t>
            </a:r>
            <a:r>
              <a:rPr lang="ru-RU" dirty="0"/>
              <a:t> — это вынуждает исследователей и администраторов тратить часы на ручное заполнение метаинформации, что замедляет публикацию, снижает качество описаний и затрудняет поиск данных. Отсутствие стандартизированного, </a:t>
            </a:r>
            <a:r>
              <a:rPr lang="ru-RU" dirty="0" err="1"/>
              <a:t>машинночитаемого</a:t>
            </a:r>
            <a:r>
              <a:rPr lang="ru-RU" dirty="0"/>
              <a:t> формата вывода (например, JSON) дополнительно усложняет интеграцию с внешними </a:t>
            </a:r>
            <a:r>
              <a:rPr lang="ru-RU" dirty="0" smtClean="0"/>
              <a:t>системами. Разработка </a:t>
            </a:r>
            <a:r>
              <a:rPr lang="ru-RU" dirty="0"/>
              <a:t>специализированного инструмента для автоматического анализа структуры данных и генерации многоязычных описаний позволит значительно ускорить процесс публикации, повысить релевантность поиска и укрепить доверие научного сообщества к открытым </a:t>
            </a:r>
            <a:r>
              <a:rPr lang="ru-RU" dirty="0" smtClean="0"/>
              <a:t>данным.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265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43A486E-19D8-478B-82FB-76FB43E4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Цель и задачи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867F1-FA86-403A-887F-43FBD7F1B1E4}"/>
              </a:ext>
            </a:extLst>
          </p:cNvPr>
          <p:cNvSpPr txBox="1"/>
          <p:nvPr/>
        </p:nvSpPr>
        <p:spPr>
          <a:xfrm>
            <a:off x="273269" y="2007477"/>
            <a:ext cx="10951779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Разработка программного инструмента для автоматической генерации описаний и ключевых тегов </a:t>
            </a:r>
            <a:r>
              <a:rPr lang="ru-RU" dirty="0" err="1"/>
              <a:t>датасетов</a:t>
            </a:r>
            <a:r>
              <a:rPr lang="ru-RU" dirty="0"/>
              <a:t>, обеспечивающего быструю подготовку метаданных и их интеграцию в научные </a:t>
            </a:r>
            <a:r>
              <a:rPr lang="ru-RU" dirty="0" err="1"/>
              <a:t>репозитории</a:t>
            </a:r>
            <a:r>
              <a:rPr lang="ru-RU" dirty="0" smtClean="0"/>
              <a:t>. </a:t>
            </a:r>
            <a:r>
              <a:rPr lang="ru-RU" b="0" i="0" dirty="0" smtClean="0">
                <a:effectLst/>
              </a:rPr>
              <a:t>Для </a:t>
            </a:r>
            <a:r>
              <a:rPr lang="ru-RU" b="0" i="0" dirty="0">
                <a:effectLst/>
              </a:rPr>
              <a:t>достижения цели поставлены следующие задачи: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ru-RU" dirty="0" smtClean="0"/>
              <a:t>Анализ </a:t>
            </a:r>
            <a:r>
              <a:rPr lang="ru-RU" dirty="0"/>
              <a:t>существующих решений</a:t>
            </a:r>
            <a:endParaRPr lang="ru-RU" i="0" dirty="0" smtClean="0">
              <a:effectLst/>
            </a:endParaRP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 smtClean="0">
                <a:effectLst/>
              </a:rPr>
              <a:t>Разработка архитектуры системы</a:t>
            </a:r>
            <a:endParaRPr lang="ru-RU" b="0" i="0" dirty="0">
              <a:effectLst/>
            </a:endParaRP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ru-RU" dirty="0" smtClean="0"/>
              <a:t>Создание алгоритмов </a:t>
            </a:r>
            <a:r>
              <a:rPr lang="ru-RU" dirty="0"/>
              <a:t>определения структуры, типа данных и семантики столбцов для генерации осмысленного текстового описания</a:t>
            </a:r>
            <a:r>
              <a:rPr lang="ru-RU" dirty="0" smtClean="0"/>
              <a:t>.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Генерация ключевых слов и </a:t>
            </a:r>
            <a:r>
              <a:rPr lang="ru-RU" dirty="0" smtClean="0"/>
              <a:t>тегов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Создание пользовательского интерфейса </a:t>
            </a:r>
            <a:endParaRPr lang="ru-RU" dirty="0" smtClean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Тестирование и </a:t>
            </a:r>
            <a:r>
              <a:rPr lang="ru-RU" dirty="0" smtClean="0"/>
              <a:t>оптимизация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Подготовка документации и сценариев интеграции</a:t>
            </a:r>
            <a:endParaRPr lang="ru-RU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0237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43A486E-19D8-478B-82FB-76FB43E4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Обзор аналогов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60BCE-26C2-41D8-84F0-3BE63FEBDE31}"/>
              </a:ext>
            </a:extLst>
          </p:cNvPr>
          <p:cNvSpPr txBox="1"/>
          <p:nvPr/>
        </p:nvSpPr>
        <p:spPr>
          <a:xfrm>
            <a:off x="262759" y="2207172"/>
            <a:ext cx="112565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процессе анализа были рассмотрены </a:t>
            </a:r>
            <a:r>
              <a:rPr lang="ru-RU" dirty="0" smtClean="0"/>
              <a:t>следующие </a:t>
            </a:r>
            <a:r>
              <a:rPr lang="ru-RU" dirty="0"/>
              <a:t>существующих решения: </a:t>
            </a:r>
            <a:r>
              <a:rPr lang="ru-RU" dirty="0" err="1"/>
              <a:t>ydata-profiling</a:t>
            </a:r>
            <a:r>
              <a:rPr lang="ru-RU" dirty="0"/>
              <a:t>, </a:t>
            </a:r>
            <a:r>
              <a:rPr lang="ru-RU" dirty="0" err="1"/>
              <a:t>Dataprep.EDA</a:t>
            </a:r>
            <a:r>
              <a:rPr lang="ru-RU" dirty="0"/>
              <a:t>, </a:t>
            </a:r>
            <a:r>
              <a:rPr lang="ru-RU" dirty="0" err="1"/>
              <a:t>DataHub</a:t>
            </a:r>
            <a:r>
              <a:rPr lang="ru-RU" dirty="0"/>
              <a:t> AI </a:t>
            </a:r>
            <a:r>
              <a:rPr lang="ru-RU" dirty="0" err="1"/>
              <a:t>Documentation</a:t>
            </a:r>
            <a:r>
              <a:rPr lang="ru-RU" dirty="0"/>
              <a:t> и исследовательский </a:t>
            </a:r>
            <a:r>
              <a:rPr lang="ru-RU" dirty="0" err="1"/>
              <a:t>фреймворк</a:t>
            </a:r>
            <a:r>
              <a:rPr lang="ru-RU" dirty="0"/>
              <a:t> </a:t>
            </a:r>
            <a:r>
              <a:rPr lang="ru-RU" dirty="0" err="1"/>
              <a:t>AutoDDG</a:t>
            </a:r>
            <a:r>
              <a:rPr lang="ru-RU" dirty="0"/>
              <a:t>. Все они работают только на английском языке, требуют навыков программирования или сложной настройки, не генерируют ключевые слова и не позволяют экспортировать результат в формате README.md. Даже локально работающие аналоги недоступны нетехническим пользователям из-за зависимости от </a:t>
            </a:r>
            <a:r>
              <a:rPr lang="ru-RU" dirty="0" err="1"/>
              <a:t>Python</a:t>
            </a:r>
            <a:r>
              <a:rPr lang="ru-RU" dirty="0"/>
              <a:t>, а облачные платформы передают данные в облако и не поддерживают русский язык.</a:t>
            </a:r>
          </a:p>
          <a:p>
            <a:r>
              <a:rPr lang="ru-RU" dirty="0"/>
              <a:t>Разрабатываемое решение устраняет эти пробелы: оно поддерживает русский и английский языки, предлагает простой веб-интерфейс с перетаскиванием файлов, автоматически создаёт теги, экспортирует результат в JSON и README.md, полностью бесплатно и работает без интернета — что делает его первым в своём классе инструментом для русскоязычных исследователей, студентов и администраторов </a:t>
            </a:r>
            <a:r>
              <a:rPr lang="ru-RU" dirty="0" err="1"/>
              <a:t>репозиториев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5075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B3347-F5A3-48D7-99F8-AF4F0F8E3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Используемые технологии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ABB7FC-3A39-41A1-8A5D-D1FB6A765B1A}"/>
              </a:ext>
            </a:extLst>
          </p:cNvPr>
          <p:cNvSpPr txBox="1"/>
          <p:nvPr/>
        </p:nvSpPr>
        <p:spPr>
          <a:xfrm>
            <a:off x="241738" y="1681656"/>
            <a:ext cx="1075733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Для реализации проекта выбран лёгкий и автономный технологический стек: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/>
              <a:t>Python</a:t>
            </a:r>
            <a:r>
              <a:rPr lang="ru-RU" dirty="0"/>
              <a:t> 3.10 — основа системы, обеспечивающая анализ данных и работу с LLM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/>
              <a:t>Streamlit</a:t>
            </a:r>
            <a:r>
              <a:rPr lang="ru-RU" dirty="0"/>
              <a:t> и </a:t>
            </a:r>
            <a:r>
              <a:rPr lang="ru-RU" dirty="0" err="1"/>
              <a:t>Click</a:t>
            </a:r>
            <a:r>
              <a:rPr lang="ru-RU" dirty="0"/>
              <a:t> — веб- и консольный интерфейсы для удобного взаимодействия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/>
              <a:t>pandas</a:t>
            </a:r>
            <a:r>
              <a:rPr lang="ru-RU" dirty="0"/>
              <a:t>, </a:t>
            </a:r>
            <a:r>
              <a:rPr lang="ru-RU" dirty="0" err="1"/>
              <a:t>numpy</a:t>
            </a:r>
            <a:r>
              <a:rPr lang="ru-RU" dirty="0"/>
              <a:t> — для анализа структуры и статистики </a:t>
            </a:r>
            <a:r>
              <a:rPr lang="ru-RU" dirty="0" err="1"/>
              <a:t>датасетов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/>
              <a:t>Ollama</a:t>
            </a:r>
            <a:r>
              <a:rPr lang="ru-RU" dirty="0"/>
              <a:t> / llama.cpp — локальные языковые модели с поддержкой русского языка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Форматы: CSV, JSON, XLSX, </a:t>
            </a:r>
            <a:r>
              <a:rPr lang="ru-RU" dirty="0" err="1"/>
              <a:t>Parquet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Экспорт: JSON и README.md — для интеграции с </a:t>
            </a:r>
            <a:r>
              <a:rPr lang="ru-RU" dirty="0" err="1"/>
              <a:t>репозиториями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Тестирование: </a:t>
            </a:r>
            <a:r>
              <a:rPr lang="ru-RU" dirty="0" err="1"/>
              <a:t>pytest</a:t>
            </a:r>
            <a:r>
              <a:rPr lang="ru-RU" dirty="0"/>
              <a:t>, </a:t>
            </a:r>
            <a:r>
              <a:rPr lang="ru-RU" dirty="0" err="1"/>
              <a:t>JMeter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Выбор обусловлен необходимостью создать бесплатное, </a:t>
            </a:r>
            <a:r>
              <a:rPr lang="ru-RU" dirty="0" err="1"/>
              <a:t>оффлайн</a:t>
            </a:r>
            <a:r>
              <a:rPr lang="ru-RU" dirty="0"/>
              <a:t>-решение без зависимости от облака, доступное исследователям и администраторам</a:t>
            </a:r>
          </a:p>
        </p:txBody>
      </p:sp>
    </p:spTree>
    <p:extLst>
      <p:ext uri="{BB962C8B-B14F-4D97-AF65-F5344CB8AC3E}">
        <p14:creationId xmlns:p14="http://schemas.microsoft.com/office/powerpoint/2010/main" val="1028233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1E0B3-8C4A-4BEF-BA49-D8498F960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Проектирование и архитектура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945380" y="1679034"/>
            <a:ext cx="23012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Диаграмма классов</a:t>
            </a:r>
            <a:endParaRPr lang="ru-RU" b="0" i="0" dirty="0">
              <a:effectLst/>
              <a:latin typeface="system-ui"/>
            </a:endParaRPr>
          </a:p>
        </p:txBody>
      </p:sp>
      <p:pic>
        <p:nvPicPr>
          <p:cNvPr id="7" name="Рисунок 6" descr="C:\Users\khoronekola\Downloads\XLJDRjD04Bv7yZkCUdBK9DmjG4Kg8AH4F012riOxTfQklTRkk6duaQ0N3lGHU8WAAHHH0Q-mVYDsxJXEQ2ekjdU-cM---NRa4qDCKvNBO918PWoSCc862Tu50u0nf49YN39QH618Rs9Avuns0fejO-xgegRwcMOvUk0Of68y74OmLqgsaNCcXKl5FleX67IzPqZCypmfc5ozHTs9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002" y="2048366"/>
            <a:ext cx="4322417" cy="43704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3289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675663" y="523565"/>
            <a:ext cx="30015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Диаграмма компонентов</a:t>
            </a:r>
            <a:endParaRPr lang="ru-RU" b="0" i="0" dirty="0">
              <a:effectLst/>
              <a:latin typeface="system-ui"/>
            </a:endParaRPr>
          </a:p>
        </p:txBody>
      </p:sp>
      <p:pic>
        <p:nvPicPr>
          <p:cNvPr id="5" name="Рисунок 4" descr="C:\Users\khoronekola\Downloads\VLJ9RXD14BrRyZ-qSeA3dJi7b2X2AC88n28abaDZDyRAUCQQ31ABaBm0IHGZGpWG8Mw8kxV1ustc5wh_Y5VTCvOTK2xjdkfwrQzUlVREOI3zu5NToUSQidmWgqfiqI_Tf9Y65D9ITmKb-0nfh5kwJNs4vtn0aUvjYNVvd11Fw0oHGO4YvBSfr4tz0O6fRZrrhzmFV2NhJYsu-ap8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540" y="1163646"/>
            <a:ext cx="5934075" cy="5429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9095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950697" y="581754"/>
            <a:ext cx="34377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ER-</a:t>
            </a:r>
            <a:r>
              <a:rPr lang="ru-RU" dirty="0"/>
              <a:t>диаграмма базы данных</a:t>
            </a:r>
            <a:endParaRPr lang="ru-RU" b="0" i="0" dirty="0">
              <a:effectLst/>
              <a:latin typeface="system-ui"/>
            </a:endParaRPr>
          </a:p>
        </p:txBody>
      </p:sp>
      <p:pic>
        <p:nvPicPr>
          <p:cNvPr id="1026" name="Picture 2" descr="Untitled (1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240" y="1399439"/>
            <a:ext cx="8140672" cy="4698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5840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439921" y="639943"/>
            <a:ext cx="44593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</a:t>
            </a:r>
            <a:r>
              <a:rPr lang="ru-RU" dirty="0"/>
              <a:t>Диаграмма вариантов использования</a:t>
            </a:r>
            <a:endParaRPr lang="ru-RU" b="0" i="0" dirty="0">
              <a:effectLst/>
              <a:latin typeface="system-ui"/>
            </a:endParaRPr>
          </a:p>
        </p:txBody>
      </p:sp>
      <p:pic>
        <p:nvPicPr>
          <p:cNvPr id="4" name="Рисунок 3" descr="C:\Users\khoronekola\Downloads\VLB1IiD04Bq7yWz3xorOsekKKF0F13yW95iRY0aaM_2OfWSF5gyUYnyWXBRH44tw2xD_vCocQcnKzf3TVVFUstcJQIpjI2vkVDFmnKo2327ohkSIN2yIZlJ2m3HiHuOHz723DRwfDRxITukPIZ7dSm_i62v5BEp8cOl8D7WjOk7OiI3M8sQuKubQ4QzGgLe3xZKvKqlCLQhfLnTd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538" y="1705061"/>
            <a:ext cx="5934075" cy="2466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1005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1E0B3-8C4A-4BEF-BA49-D8498F960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Демонстрация работы</a:t>
            </a:r>
          </a:p>
        </p:txBody>
      </p:sp>
      <p:pic>
        <p:nvPicPr>
          <p:cNvPr id="7" name="Рисунок 6"/>
          <p:cNvPicPr/>
          <p:nvPr/>
        </p:nvPicPr>
        <p:blipFill rotWithShape="1">
          <a:blip r:embed="rId2"/>
          <a:srcRect l="30158" t="8281" r="28844"/>
          <a:stretch/>
        </p:blipFill>
        <p:spPr>
          <a:xfrm>
            <a:off x="432261" y="1554480"/>
            <a:ext cx="4613564" cy="4890821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3"/>
          <a:stretch>
            <a:fillRect/>
          </a:stretch>
        </p:blipFill>
        <p:spPr>
          <a:xfrm>
            <a:off x="6877743" y="901757"/>
            <a:ext cx="339090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08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1E0B3-8C4A-4BEF-BA49-D8498F960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Результаты и анализ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150802-E8EF-401D-A33B-68D007D3495B}"/>
              </a:ext>
            </a:extLst>
          </p:cNvPr>
          <p:cNvSpPr txBox="1"/>
          <p:nvPr/>
        </p:nvSpPr>
        <p:spPr>
          <a:xfrm>
            <a:off x="956441" y="1692166"/>
            <a:ext cx="1027911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ходе тестирования система показала: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Скорость: среднее время генерации описания — 12 секунд (макс. — 28 сек), что соответствует целевому значению ≤15 сек для 90 % </a:t>
            </a:r>
            <a:r>
              <a:rPr lang="ru-RU" dirty="0" err="1"/>
              <a:t>датасетов</a:t>
            </a:r>
            <a:r>
              <a:rPr lang="ru-RU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Потребление памяти: не более 750 МБ (целевой лимит — 800 МБ).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Точность: экспертная оценка качества описаний — 4.7/5, без вымышленных фактов.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Релевантность тегов: 89 % ключевых слов признаны экспертами корректными (цель — ≥85 %).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Юзабилити</a:t>
            </a:r>
            <a:r>
              <a:rPr lang="ru-RU" dirty="0"/>
              <a:t>: 92 % новых пользователей самостоятельно получили результат за ≤3 минуты без инструкций.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Безопасность: по данным </a:t>
            </a:r>
            <a:r>
              <a:rPr lang="ru-RU" dirty="0" err="1"/>
              <a:t>Wireshark</a:t>
            </a:r>
            <a:r>
              <a:rPr lang="ru-RU" dirty="0"/>
              <a:t>, нет исходящих сетевых запросов — все данные обрабатываются локально.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Экономия времени: подготовка описания сократилась с 60 минут вручную до ≤5 минут (в 12 раз быстрее).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Покрытие требований: 100 % критически важных и 93 % высокоприоритетных требований выполнены.</a:t>
            </a:r>
          </a:p>
          <a:p>
            <a:r>
              <a:rPr lang="ru-RU" dirty="0"/>
              <a:t>Система полностью соответствует целям проекта и готова к использованию</a:t>
            </a:r>
            <a:r>
              <a:rPr lang="ru-RU" dirty="0" smtClean="0"/>
              <a:t>.</a:t>
            </a:r>
            <a:r>
              <a:rPr lang="ru-RU" i="0" dirty="0" smtClean="0">
                <a:effectLst/>
              </a:rPr>
              <a:t>.</a:t>
            </a:r>
            <a:endParaRPr lang="ru-RU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35010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1E0B3-8C4A-4BEF-BA49-D8498F960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Перспективы развития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150802-E8EF-401D-A33B-68D007D3495B}"/>
              </a:ext>
            </a:extLst>
          </p:cNvPr>
          <p:cNvSpPr txBox="1"/>
          <p:nvPr/>
        </p:nvSpPr>
        <p:spPr>
          <a:xfrm>
            <a:off x="956441" y="1692166"/>
            <a:ext cx="8187559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b="0" i="0" dirty="0">
                <a:effectLst/>
              </a:rPr>
              <a:t>В перспективе </a:t>
            </a:r>
            <a:r>
              <a:rPr lang="ru-RU" b="0" i="0" dirty="0" smtClean="0">
                <a:effectLst/>
              </a:rPr>
              <a:t>развития планируется</a:t>
            </a:r>
            <a:r>
              <a:rPr lang="ru-RU" b="0" i="0" dirty="0">
                <a:effectLst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Реализация полнофункционального терминального (CLI) интерфейса — для пакетной обработки </a:t>
            </a:r>
            <a:r>
              <a:rPr lang="ru-RU" dirty="0" err="1"/>
              <a:t>датасетов</a:t>
            </a:r>
            <a:r>
              <a:rPr lang="ru-RU" dirty="0"/>
              <a:t> и интеграции в скрипты и CI/CD-процессы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Добавление поддержки формата </a:t>
            </a:r>
            <a:r>
              <a:rPr lang="ru-RU" dirty="0" err="1"/>
              <a:t>Parquet</a:t>
            </a:r>
            <a:r>
              <a:rPr lang="ru-RU" dirty="0"/>
              <a:t> — расширение совместимости с современными </a:t>
            </a:r>
            <a:r>
              <a:rPr lang="ru-RU" dirty="0" err="1"/>
              <a:t>data</a:t>
            </a:r>
            <a:r>
              <a:rPr lang="ru-RU" dirty="0"/>
              <a:t>-</a:t>
            </a:r>
            <a:r>
              <a:rPr lang="ru-RU" dirty="0" err="1"/>
              <a:t>science</a:t>
            </a:r>
            <a:r>
              <a:rPr lang="ru-RU" dirty="0"/>
              <a:t>-стеками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Массовая обработка </a:t>
            </a:r>
            <a:r>
              <a:rPr lang="ru-RU" dirty="0" err="1"/>
              <a:t>датасетов</a:t>
            </a:r>
            <a:r>
              <a:rPr lang="ru-RU" dirty="0"/>
              <a:t> — каталогизация целых архивов (например, университетских </a:t>
            </a:r>
            <a:r>
              <a:rPr lang="ru-RU" dirty="0" err="1"/>
              <a:t>репозиториев</a:t>
            </a:r>
            <a:r>
              <a:rPr lang="ru-RU" dirty="0"/>
              <a:t>) за один запуск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Интеграция с </a:t>
            </a:r>
            <a:r>
              <a:rPr lang="ru-RU" dirty="0" err="1"/>
              <a:t>GitHub</a:t>
            </a:r>
            <a:r>
              <a:rPr lang="ru-RU" dirty="0"/>
              <a:t>, </a:t>
            </a:r>
            <a:r>
              <a:rPr lang="ru-RU" dirty="0" err="1"/>
              <a:t>GitLab</a:t>
            </a:r>
            <a:r>
              <a:rPr lang="ru-RU" dirty="0"/>
              <a:t>, </a:t>
            </a:r>
            <a:r>
              <a:rPr lang="ru-RU" dirty="0" err="1"/>
              <a:t>Zenodo</a:t>
            </a:r>
            <a:r>
              <a:rPr lang="ru-RU" dirty="0"/>
              <a:t>, </a:t>
            </a:r>
            <a:r>
              <a:rPr lang="ru-RU" dirty="0" err="1"/>
              <a:t>Kaggle</a:t>
            </a:r>
            <a:r>
              <a:rPr lang="ru-RU" dirty="0"/>
              <a:t> — автоматическая генерация README и метаданных при загрузке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Модуль обучения по правкам пользователя — адаптация описаний на основе обратной связи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Поддержка дополнительных языков — казахский, белорусский, испанский и др.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Разработка REST API — для встраивания функционала в корпоративные системы и порталы открытых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146300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1E0B3-8C4A-4BEF-BA49-D8498F960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150802-E8EF-401D-A33B-68D007D3495B}"/>
              </a:ext>
            </a:extLst>
          </p:cNvPr>
          <p:cNvSpPr txBox="1"/>
          <p:nvPr/>
        </p:nvSpPr>
        <p:spPr>
          <a:xfrm>
            <a:off x="956441" y="1692166"/>
            <a:ext cx="8187559" cy="442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lang="ru-RU" b="0" i="0" dirty="0">
                <a:effectLst/>
              </a:rPr>
              <a:t>В результате работы был </a:t>
            </a:r>
            <a:r>
              <a:rPr lang="ru-RU" dirty="0"/>
              <a:t>р</a:t>
            </a:r>
            <a:r>
              <a:rPr lang="ru-RU" dirty="0" smtClean="0"/>
              <a:t>азработан </a:t>
            </a:r>
            <a:r>
              <a:rPr lang="ru-RU" dirty="0"/>
              <a:t>инструмент для автоматической генерации описаний и тегов </a:t>
            </a:r>
            <a:r>
              <a:rPr lang="ru-RU" dirty="0" err="1"/>
              <a:t>датасетов</a:t>
            </a:r>
            <a:r>
              <a:rPr lang="ru-RU" dirty="0"/>
              <a:t>, который:</a:t>
            </a:r>
          </a:p>
          <a:p>
            <a:pPr marL="285750" indent="-285750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ru-RU" dirty="0"/>
              <a:t>Позволяет быстро получать понятное описание данных на русском и английском языках</a:t>
            </a:r>
          </a:p>
          <a:p>
            <a:pPr marL="285750" indent="-285750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ru-RU" dirty="0"/>
              <a:t>Поддерживает популярные форматы: CSV, JSON, XLSX</a:t>
            </a:r>
          </a:p>
          <a:p>
            <a:pPr marL="285750" indent="-285750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ru-RU" dirty="0"/>
              <a:t>Генерирует ключевые слова и выдаёт метаданные в JSON и README.md</a:t>
            </a:r>
          </a:p>
          <a:p>
            <a:pPr marL="285750" indent="-285750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ru-RU" dirty="0"/>
              <a:t>Работает локально — без интернета и передачи данных</a:t>
            </a:r>
          </a:p>
          <a:p>
            <a:pPr>
              <a:spcBef>
                <a:spcPts val="150"/>
              </a:spcBef>
            </a:pPr>
            <a:r>
              <a:rPr lang="ru-RU" dirty="0"/>
              <a:t>Прост в использовании — даже без знания программирования</a:t>
            </a:r>
          </a:p>
          <a:p>
            <a:pPr>
              <a:spcBef>
                <a:spcPts val="150"/>
              </a:spcBef>
            </a:pPr>
            <a:r>
              <a:rPr lang="ru-RU" dirty="0"/>
              <a:t>Проект решает реальную проблему: экономит время исследователей и администраторов </a:t>
            </a:r>
            <a:r>
              <a:rPr lang="ru-RU" dirty="0" err="1"/>
              <a:t>репозиториев</a:t>
            </a:r>
            <a:r>
              <a:rPr lang="ru-RU" dirty="0"/>
              <a:t>, улучшает качество метаданных и помогает находить нужные данные быстрее.</a:t>
            </a:r>
          </a:p>
          <a:p>
            <a:pPr>
              <a:spcBef>
                <a:spcPts val="150"/>
              </a:spcBef>
            </a:pPr>
            <a:r>
              <a:rPr lang="ru-RU" dirty="0"/>
              <a:t>Готов к использованию в научных, образовательных и аналитических задачах — особенно там, где важны простота, конфиденциальность и поддержка русского языка.</a:t>
            </a:r>
          </a:p>
        </p:txBody>
      </p:sp>
    </p:spTree>
    <p:extLst>
      <p:ext uri="{BB962C8B-B14F-4D97-AF65-F5344CB8AC3E}">
        <p14:creationId xmlns:p14="http://schemas.microsoft.com/office/powerpoint/2010/main" val="1493336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5885B3-B3DE-4564-BDC7-0F959A3F9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2" name="Текст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806438"/>
      </p:ext>
    </p:extLst>
  </p:cSld>
  <p:clrMapOvr>
    <a:masterClrMapping/>
  </p:clrMapOvr>
</p:sld>
</file>

<file path=ppt/theme/theme1.xml><?xml version="1.0" encoding="utf-8"?>
<a:theme xmlns:a="http://schemas.openxmlformats.org/drawingml/2006/main" name="Горы днём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2737C4F3-30A7-462B-BAAF-6A4475D30B5A}"/>
    </a:ext>
  </a:extLst>
</a:theme>
</file>

<file path=ppt/theme/theme2.xml><?xml version="1.0" encoding="utf-8"?>
<a:theme xmlns:a="http://schemas.openxmlformats.org/drawingml/2006/main" name="Горы резко обрываются равниной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2737C4F3-30A7-462B-BAAF-6A4475D30B5A}"/>
    </a:ext>
  </a:extLst>
</a:theme>
</file>

<file path=ppt/theme/theme3.xml><?xml version="1.0" encoding="utf-8"?>
<a:theme xmlns:a="http://schemas.openxmlformats.org/drawingml/2006/main" name="Лазерная гравировка по стали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EB60DE6F-028E-4872-82DB-DADC663CBDD8}"/>
    </a:ext>
  </a:extLst>
</a:theme>
</file>

<file path=ppt/theme/theme4.xml><?xml version="1.0" encoding="utf-8"?>
<a:theme xmlns:a="http://schemas.openxmlformats.org/drawingml/2006/main" name="Горы плавно переходят в равнину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844F752C-EEAC-4CC9-94F9-406FC0799D5E}"/>
    </a:ext>
  </a:extLst>
</a:theme>
</file>

<file path=ppt/theme/theme5.xml><?xml version="1.0" encoding="utf-8"?>
<a:theme xmlns:a="http://schemas.openxmlformats.org/drawingml/2006/main" name="Формула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844F752C-EEAC-4CC9-94F9-406FC0799D5E}"/>
    </a:ext>
  </a:extLst>
</a:theme>
</file>

<file path=ppt/theme/theme6.xml><?xml version="1.0" encoding="utf-8"?>
<a:theme xmlns:a="http://schemas.openxmlformats.org/drawingml/2006/main" name="Горы ночью">
  <a:themeElements>
    <a:clrScheme name="Ночной МИИГАиК">
      <a:dk1>
        <a:srgbClr val="FFFFFF"/>
      </a:dk1>
      <a:lt1>
        <a:sysClr val="window" lastClr="FFFFFF"/>
      </a:lt1>
      <a:dk2>
        <a:srgbClr val="FFFFFF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C38CD02F-1156-4645-B207-AB6B5FD4AB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</TotalTime>
  <Words>802</Words>
  <Application>Microsoft Office PowerPoint</Application>
  <PresentationFormat>Широкоэкранный</PresentationFormat>
  <Paragraphs>62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14</vt:i4>
      </vt:variant>
    </vt:vector>
  </HeadingPairs>
  <TitlesOfParts>
    <vt:vector size="23" baseType="lpstr">
      <vt:lpstr>system-ui</vt:lpstr>
      <vt:lpstr>Montserrat</vt:lpstr>
      <vt:lpstr>Arial</vt:lpstr>
      <vt:lpstr>Горы днём</vt:lpstr>
      <vt:lpstr>Горы резко обрываются равниной</vt:lpstr>
      <vt:lpstr>Лазерная гравировка по стали</vt:lpstr>
      <vt:lpstr>Горы плавно переходят в равнину</vt:lpstr>
      <vt:lpstr>Формула</vt:lpstr>
      <vt:lpstr>Горы ночью</vt:lpstr>
      <vt:lpstr>Федеральное государственное бюджетное образовательное учреждение высшего образования "Московский государственный университет геодезии и картографии" (МИИГАиК) Кафедра информатики и геоинформационных технологий  Разработка системы автоматической генерации описаний и структуры для открытых наборов данных с использованием нейросетей    </vt:lpstr>
      <vt:lpstr>Актуальность</vt:lpstr>
      <vt:lpstr>Цель и задачи</vt:lpstr>
      <vt:lpstr>Обзор аналогов</vt:lpstr>
      <vt:lpstr>Используемые технологии</vt:lpstr>
      <vt:lpstr>Проектирование и архитектура</vt:lpstr>
      <vt:lpstr>Презентация PowerPoint</vt:lpstr>
      <vt:lpstr>Презентация PowerPoint</vt:lpstr>
      <vt:lpstr>Презентация PowerPoint</vt:lpstr>
      <vt:lpstr>Демонстрация работы</vt:lpstr>
      <vt:lpstr>Результаты и анализ</vt:lpstr>
      <vt:lpstr>Перспективы развития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Роман Жуков</dc:creator>
  <cp:lastModifiedBy>leonid</cp:lastModifiedBy>
  <cp:revision>30</cp:revision>
  <dcterms:created xsi:type="dcterms:W3CDTF">2025-04-17T10:00:13Z</dcterms:created>
  <dcterms:modified xsi:type="dcterms:W3CDTF">2025-12-30T00:49:55Z</dcterms:modified>
</cp:coreProperties>
</file>